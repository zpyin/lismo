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61" autoAdjust="0"/>
  </p:normalViewPr>
  <p:slideViewPr>
    <p:cSldViewPr snapToGrid="0">
      <p:cViewPr varScale="1">
        <p:scale>
          <a:sx n="109" d="100"/>
          <a:sy n="109" d="100"/>
        </p:scale>
        <p:origin x="126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43460" y="1865807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60" y="4461256"/>
            <a:ext cx="9144000" cy="59122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BAE55B-CB3D-3D83-7D2B-C8B96990191F}"/>
              </a:ext>
            </a:extLst>
          </p:cNvPr>
          <p:cNvSpPr/>
          <p:nvPr/>
        </p:nvSpPr>
        <p:spPr>
          <a:xfrm>
            <a:off x="469229" y="0"/>
            <a:ext cx="11722771" cy="931634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CC75A84-3DB9-1445-F5D4-63BC7D37E2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668" y="64939"/>
            <a:ext cx="919660" cy="80175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DECAECB-FE2A-3E65-4789-C9322C56DA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28" y="89875"/>
            <a:ext cx="766707" cy="76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8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74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01745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5784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2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88858"/>
            <a:ext cx="5181600" cy="5088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88858"/>
            <a:ext cx="5181600" cy="50881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92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799"/>
            <a:ext cx="10515600" cy="6891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027535"/>
            <a:ext cx="5157787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13021"/>
            <a:ext cx="5157787" cy="42558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027535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13020"/>
            <a:ext cx="5183188" cy="42558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36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55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0B97B2-6D17-48DC-A676-7247E7BD532C}"/>
              </a:ext>
            </a:extLst>
          </p:cNvPr>
          <p:cNvSpPr/>
          <p:nvPr/>
        </p:nvSpPr>
        <p:spPr>
          <a:xfrm flipV="1">
            <a:off x="-12032" y="-6016"/>
            <a:ext cx="12219616" cy="1479884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19FDCA-8C3A-A5ED-CA4C-959D09ED24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414" y="301960"/>
            <a:ext cx="867582" cy="86411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2D389D-6219-FD4A-8F5D-2F474987A42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3" r="7780"/>
          <a:stretch/>
        </p:blipFill>
        <p:spPr>
          <a:xfrm>
            <a:off x="11048310" y="301960"/>
            <a:ext cx="882650" cy="93163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87AB1E8-3ECE-2A54-069E-DCE77137C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56" y="384638"/>
            <a:ext cx="9021439" cy="69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97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1A12016-9513-4950-CB35-E6B77CA33827}"/>
              </a:ext>
            </a:extLst>
          </p:cNvPr>
          <p:cNvSpPr/>
          <p:nvPr/>
        </p:nvSpPr>
        <p:spPr>
          <a:xfrm>
            <a:off x="469229" y="0"/>
            <a:ext cx="11722771" cy="931634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6EAF31-A939-FFE4-6667-50BF46EC54E5}"/>
              </a:ext>
            </a:extLst>
          </p:cNvPr>
          <p:cNvSpPr/>
          <p:nvPr/>
        </p:nvSpPr>
        <p:spPr>
          <a:xfrm flipV="1">
            <a:off x="0" y="6361728"/>
            <a:ext cx="12192000" cy="501649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8295" y="78941"/>
            <a:ext cx="10436225" cy="781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36446"/>
            <a:ext cx="10515600" cy="5185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46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fld id="{F696BFBB-DCF2-4682-AB21-3069E297E33F}" type="datetimeFigureOut">
              <a:rPr lang="zh-CN" altLang="en-US" smtClean="0"/>
              <a:t>2025/8/9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26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58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42B564CE-0998-43D5-A108-DC0A5431A35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30ABC9-B802-3B5F-A36D-872E9F8AEE1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4" y="6409022"/>
            <a:ext cx="366591" cy="3651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C26233D-6346-3482-0188-77032F139AE6}"/>
              </a:ext>
            </a:extLst>
          </p:cNvPr>
          <p:cNvSpPr/>
          <p:nvPr/>
        </p:nvSpPr>
        <p:spPr>
          <a:xfrm>
            <a:off x="0" y="208"/>
            <a:ext cx="472895" cy="916427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D246D1-08F4-3A3E-1D25-94C3738E1C1B}"/>
              </a:ext>
            </a:extLst>
          </p:cNvPr>
          <p:cNvSpPr/>
          <p:nvPr/>
        </p:nvSpPr>
        <p:spPr>
          <a:xfrm flipV="1">
            <a:off x="0" y="916262"/>
            <a:ext cx="12192000" cy="45719"/>
          </a:xfrm>
          <a:prstGeom prst="rect">
            <a:avLst/>
          </a:prstGeom>
          <a:solidFill>
            <a:srgbClr val="3058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29BB02-EBD4-863B-3DAB-A96D34D6A0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07" y="-8907"/>
            <a:ext cx="292282" cy="8937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A6B87C-E2FD-FAE1-F26B-B675777F5509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3" r="7780"/>
          <a:stretch/>
        </p:blipFill>
        <p:spPr>
          <a:xfrm>
            <a:off x="11353800" y="62732"/>
            <a:ext cx="778893" cy="82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9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93FF0-AD22-49CB-96AC-972520D4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Microphysics of warm clouds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BD0C9A-6089-44EF-A09B-A89429ACF0B1}"/>
              </a:ext>
            </a:extLst>
          </p:cNvPr>
          <p:cNvSpPr txBox="1"/>
          <p:nvPr/>
        </p:nvSpPr>
        <p:spPr>
          <a:xfrm>
            <a:off x="0" y="6064587"/>
            <a:ext cx="121920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R="0"/>
            <a:r>
              <a:rPr lang="en-US" altLang="zh-CN" sz="1400" dirty="0">
                <a:latin typeface="Segoe UI" panose="020B0502040204020203" pitchFamily="34" charset="0"/>
              </a:rPr>
              <a:t>Miles NL, </a:t>
            </a:r>
            <a:r>
              <a:rPr lang="en-US" altLang="zh-CN" sz="1400" dirty="0" err="1">
                <a:latin typeface="Segoe UI" panose="020B0502040204020203" pitchFamily="34" charset="0"/>
              </a:rPr>
              <a:t>Verlinde</a:t>
            </a:r>
            <a:r>
              <a:rPr lang="en-US" altLang="zh-CN" sz="1400" dirty="0">
                <a:latin typeface="Segoe UI" panose="020B0502040204020203" pitchFamily="34" charset="0"/>
              </a:rPr>
              <a:t> J, </a:t>
            </a:r>
            <a:r>
              <a:rPr lang="en-US" altLang="zh-CN" sz="1400" dirty="0" err="1">
                <a:latin typeface="Segoe UI" panose="020B0502040204020203" pitchFamily="34" charset="0"/>
              </a:rPr>
              <a:t>Clothiaux</a:t>
            </a:r>
            <a:r>
              <a:rPr lang="en-US" altLang="zh-CN" sz="1400" dirty="0">
                <a:latin typeface="Segoe UI" panose="020B0502040204020203" pitchFamily="34" charset="0"/>
              </a:rPr>
              <a:t> EE. Cloud droplet size distributions in low-level stratiform clouds. Journal of the atmospheric sciences. 2000;57(2):295-311.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73EA7DB-1F7D-4DE9-85D1-ABE04E018CB8}"/>
                  </a:ext>
                </a:extLst>
              </p:cNvPr>
              <p:cNvSpPr txBox="1"/>
              <p:nvPr/>
            </p:nvSpPr>
            <p:spPr>
              <a:xfrm>
                <a:off x="3674587" y="1767253"/>
                <a:ext cx="4374980" cy="768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+mj-ea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+mj-ea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𝑟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m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𝛾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m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  <m:t>−1</m:t>
                          </m:r>
                        </m:sup>
                      </m:sSup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+mj-ea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+mj-ea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0" smtClean="0"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m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73EA7DB-1F7D-4DE9-85D1-ABE04E018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587" y="1767253"/>
                <a:ext cx="4374980" cy="768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B8A0473-F4D9-41B9-8551-E5130AD27E5C}"/>
              </a:ext>
            </a:extLst>
          </p:cNvPr>
          <p:cNvSpPr txBox="1"/>
          <p:nvPr/>
        </p:nvSpPr>
        <p:spPr>
          <a:xfrm>
            <a:off x="492369" y="1195726"/>
            <a:ext cx="682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+mj-ea"/>
                <a:ea typeface="+mj-ea"/>
              </a:rPr>
              <a:t>Cloud droplet size distribution in low-level stratiform clouds</a:t>
            </a:r>
            <a:endParaRPr lang="zh-CN" altLang="en-US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FC0B00-74DA-4C3C-AC9E-D7FD55F6A825}"/>
                  </a:ext>
                </a:extLst>
              </p:cNvPr>
              <p:cNvSpPr txBox="1"/>
              <p:nvPr/>
            </p:nvSpPr>
            <p:spPr>
              <a:xfrm>
                <a:off x="8458200" y="1828487"/>
                <a:ext cx="248600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+mj-ea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+mj-ea"/>
                          </a:rPr>
                          <m:t>m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 </a:t>
                </a:r>
                <a:r>
                  <a:rPr lang="en-US" altLang="zh-CN" dirty="0">
                    <a:latin typeface="+mj-ea"/>
                    <a:ea typeface="+mj-ea"/>
                  </a:rPr>
                  <a:t>is mode radius; </a:t>
                </a:r>
                <a:endParaRPr lang="en-US" altLang="zh-CN" b="0" i="1" dirty="0">
                  <a:latin typeface="Cambria Math" panose="02040503050406030204" pitchFamily="18" charset="0"/>
                  <a:ea typeface="+mj-ea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</a:rPr>
                      <m:t>𝛾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 </a:t>
                </a:r>
                <a:r>
                  <a:rPr lang="en-US" altLang="zh-CN" dirty="0">
                    <a:latin typeface="+mj-ea"/>
                    <a:ea typeface="+mj-ea"/>
                  </a:rPr>
                  <a:t>is shape parameter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2FC0B00-74DA-4C3C-AC9E-D7FD55F6A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1828487"/>
                <a:ext cx="2486002" cy="646331"/>
              </a:xfrm>
              <a:prstGeom prst="rect">
                <a:avLst/>
              </a:prstGeom>
              <a:blipFill>
                <a:blip r:embed="rId3"/>
                <a:stretch>
                  <a:fillRect t="-5660" r="-1966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B9EBF075-8E11-4001-B487-15513F2A7544}"/>
              </a:ext>
            </a:extLst>
          </p:cNvPr>
          <p:cNvSpPr txBox="1"/>
          <p:nvPr/>
        </p:nvSpPr>
        <p:spPr>
          <a:xfrm>
            <a:off x="4609202" y="2686354"/>
            <a:ext cx="3440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+mj-ea"/>
                <a:ea typeface="+mj-ea"/>
              </a:rPr>
              <a:t>Modified gamma distribution</a:t>
            </a:r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A52BC-0155-4D68-8EF4-8B4B3D166F43}"/>
              </a:ext>
            </a:extLst>
          </p:cNvPr>
          <p:cNvGrpSpPr/>
          <p:nvPr/>
        </p:nvGrpSpPr>
        <p:grpSpPr>
          <a:xfrm>
            <a:off x="1052856" y="3092620"/>
            <a:ext cx="9891346" cy="2906365"/>
            <a:chOff x="1052856" y="3092620"/>
            <a:chExt cx="9891346" cy="29063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F61D119-54DA-4CFB-8BF6-4D78D4289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2856" y="3092620"/>
              <a:ext cx="9891346" cy="172800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B013159-7591-42EB-9DD8-A603DDBAF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9006" y="4813600"/>
              <a:ext cx="9803173" cy="101463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16E834DA-EEFF-4AEA-8C4D-BC855F683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 flipV="1">
              <a:off x="1219692" y="5823502"/>
              <a:ext cx="9636967" cy="175483"/>
            </a:xfrm>
            <a:prstGeom prst="rect">
              <a:avLst/>
            </a:prstGeom>
          </p:spPr>
        </p:pic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F726E30-3687-479C-AEA9-531E1C89DFD5}"/>
              </a:ext>
            </a:extLst>
          </p:cNvPr>
          <p:cNvSpPr/>
          <p:nvPr/>
        </p:nvSpPr>
        <p:spPr>
          <a:xfrm>
            <a:off x="9205544" y="3154164"/>
            <a:ext cx="457200" cy="27308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B8664-3770-4A40-8AC0-F2EFC95B5FCF}"/>
              </a:ext>
            </a:extLst>
          </p:cNvPr>
          <p:cNvSpPr/>
          <p:nvPr/>
        </p:nvSpPr>
        <p:spPr>
          <a:xfrm>
            <a:off x="9609277" y="3154164"/>
            <a:ext cx="457200" cy="27308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77470D-484A-4823-BA9D-50103DCDAF34}"/>
                  </a:ext>
                </a:extLst>
              </p:cNvPr>
              <p:cNvSpPr txBox="1"/>
              <p:nvPr/>
            </p:nvSpPr>
            <p:spPr>
              <a:xfrm>
                <a:off x="9548691" y="2784832"/>
                <a:ext cx="631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dirty="0">
                    <a:latin typeface="+mj-ea"/>
                    <a:ea typeface="+mj-ea"/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+mj-ea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+mj-ea"/>
                          </a:rPr>
                          <m:t>m</m:t>
                        </m:r>
                      </m:sub>
                    </m:sSub>
                  </m:oMath>
                </a14:m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E077470D-484A-4823-BA9D-50103DCDA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691" y="2784832"/>
                <a:ext cx="631840" cy="369332"/>
              </a:xfrm>
              <a:prstGeom prst="rect">
                <a:avLst/>
              </a:prstGeom>
              <a:blipFill>
                <a:blip r:embed="rId7"/>
                <a:stretch>
                  <a:fillRect l="-7692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26E79A9-2D97-4A8C-BCD6-D2C7E31CD737}"/>
                  </a:ext>
                </a:extLst>
              </p:cNvPr>
              <p:cNvSpPr txBox="1"/>
              <p:nvPr/>
            </p:nvSpPr>
            <p:spPr>
              <a:xfrm>
                <a:off x="9227634" y="2732259"/>
                <a:ext cx="3816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+mj-ea"/>
                        </a:rPr>
                        <m:t>𝛾</m:t>
                      </m:r>
                    </m:oMath>
                  </m:oMathPara>
                </a14:m>
                <a:endParaRPr lang="zh-CN" altLang="en-US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26E79A9-2D97-4A8C-BCD6-D2C7E31C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634" y="2732259"/>
                <a:ext cx="381643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3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93FF0-AD22-49CB-96AC-972520D4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Microphysics of cold clouds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89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F0B4B-9593-4FFE-8648-AF3BCC61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Shapes of ice crystals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595432"/>
      </p:ext>
    </p:extLst>
  </p:cSld>
  <p:clrMapOvr>
    <a:masterClrMapping/>
  </p:clrMapOvr>
</p:sld>
</file>

<file path=ppt/theme/theme1.xml><?xml version="1.0" encoding="utf-8"?>
<a:theme xmlns:a="http://schemas.openxmlformats.org/drawingml/2006/main" name="遥感院项目答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遥感院项目答辩" id="{651A9A42-DD27-44BF-B155-4EA6DB41D851}" vid="{C4B0886A-7D34-4F44-8601-26E2FB08F5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遥感院项目答辩</Template>
  <TotalTime>18</TotalTime>
  <Words>69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微软雅黑</vt:lpstr>
      <vt:lpstr>Arial</vt:lpstr>
      <vt:lpstr>Arial Black</vt:lpstr>
      <vt:lpstr>Cambria Math</vt:lpstr>
      <vt:lpstr>Segoe UI</vt:lpstr>
      <vt:lpstr>遥感院项目答辩</vt:lpstr>
      <vt:lpstr>Microphysics of warm clouds</vt:lpstr>
      <vt:lpstr>Microphysics of cold clouds</vt:lpstr>
      <vt:lpstr>Shapes of ice crystals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Microphysics of warm clouds</dc:title>
  <dc:creator>Zhenping Yin</dc:creator>
  <cp:lastModifiedBy>Zhenping Yin</cp:lastModifiedBy>
  <cp:revision>3</cp:revision>
  <dcterms:created xsi:type="dcterms:W3CDTF">2025-08-09T08:41:16Z</dcterms:created>
  <dcterms:modified xsi:type="dcterms:W3CDTF">2025-08-09T08:59:55Z</dcterms:modified>
</cp:coreProperties>
</file>